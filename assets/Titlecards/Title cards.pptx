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5" r:id="rId6"/>
    <p:sldId id="261" r:id="rId7"/>
    <p:sldId id="262" r:id="rId8"/>
    <p:sldId id="263" r:id="rId9"/>
    <p:sldId id="264" r:id="rId10"/>
  </p:sldIdLst>
  <p:sldSz cx="9144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D1658-9AFB-4803-BD0A-9C6826BFCA8B}" v="1" dt="2026-08-18T03:22:57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80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se Sun" userId="7bf6643f6e674ca5" providerId="LiveId" clId="{505E2666-61C0-4A5F-8DD1-98D9858EA433}"/>
    <pc:docChg chg="undo redo custSel addSld delSld modSld">
      <pc:chgData name="Chase Sun" userId="7bf6643f6e674ca5" providerId="LiveId" clId="{505E2666-61C0-4A5F-8DD1-98D9858EA433}" dt="2026-08-18T03:27:20.603" v="2479" actId="1076"/>
      <pc:docMkLst>
        <pc:docMk/>
      </pc:docMkLst>
      <pc:sldChg chg="addSp delSp modSp add mod modShow">
        <pc:chgData name="Chase Sun" userId="7bf6643f6e674ca5" providerId="LiveId" clId="{505E2666-61C0-4A5F-8DD1-98D9858EA433}" dt="2026-08-18T03:23:01.390" v="2306" actId="729"/>
        <pc:sldMkLst>
          <pc:docMk/>
          <pc:sldMk cId="667000464" sldId="260"/>
        </pc:sldMkLst>
        <pc:picChg chg="add mod modCrop">
          <ac:chgData name="Chase Sun" userId="7bf6643f6e674ca5" providerId="LiveId" clId="{505E2666-61C0-4A5F-8DD1-98D9858EA433}" dt="2026-08-18T03:22:55.618" v="2304" actId="1076"/>
          <ac:picMkLst>
            <pc:docMk/>
            <pc:sldMk cId="667000464" sldId="260"/>
            <ac:picMk id="42" creationId="{5189FBDE-57D2-9672-62A8-E5EAB2F971B7}"/>
          </ac:picMkLst>
        </pc:picChg>
      </pc:sldChg>
      <pc:sldChg chg="addSp delSp modSp add mod">
        <pc:chgData name="Chase Sun" userId="7bf6643f6e674ca5" providerId="LiveId" clId="{505E2666-61C0-4A5F-8DD1-98D9858EA433}" dt="2026-08-18T03:27:20.603" v="2479" actId="1076"/>
        <pc:sldMkLst>
          <pc:docMk/>
          <pc:sldMk cId="2477156519" sldId="265"/>
        </pc:sldMkLst>
        <pc:spChg chg="mod">
          <ac:chgData name="Chase Sun" userId="7bf6643f6e674ca5" providerId="LiveId" clId="{505E2666-61C0-4A5F-8DD1-98D9858EA433}" dt="2026-08-18T03:23:17.215" v="2339" actId="14100"/>
          <ac:spMkLst>
            <pc:docMk/>
            <pc:sldMk cId="2477156519" sldId="265"/>
            <ac:spMk id="9" creationId="{6A07A66C-FE08-9FF2-AB6E-AFF04E2EBF57}"/>
          </ac:spMkLst>
        </pc:spChg>
        <pc:spChg chg="mod">
          <ac:chgData name="Chase Sun" userId="7bf6643f6e674ca5" providerId="LiveId" clId="{505E2666-61C0-4A5F-8DD1-98D9858EA433}" dt="2026-08-18T03:24:25.761" v="2475" actId="313"/>
          <ac:spMkLst>
            <pc:docMk/>
            <pc:sldMk cId="2477156519" sldId="265"/>
            <ac:spMk id="10" creationId="{634038AF-429B-A35D-18BA-E2472D0E9AA4}"/>
          </ac:spMkLst>
        </pc:spChg>
        <pc:picChg chg="add mod">
          <ac:chgData name="Chase Sun" userId="7bf6643f6e674ca5" providerId="LiveId" clId="{505E2666-61C0-4A5F-8DD1-98D9858EA433}" dt="2026-08-18T03:27:20.603" v="2479" actId="1076"/>
          <ac:picMkLst>
            <pc:docMk/>
            <pc:sldMk cId="2477156519" sldId="265"/>
            <ac:picMk id="4" creationId="{70249349-174E-3630-F6AD-49E3AA5DDA96}"/>
          </ac:picMkLst>
        </pc:picChg>
        <pc:picChg chg="del">
          <ac:chgData name="Chase Sun" userId="7bf6643f6e674ca5" providerId="LiveId" clId="{505E2666-61C0-4A5F-8DD1-98D9858EA433}" dt="2026-08-18T03:23:05.800" v="2308" actId="478"/>
          <ac:picMkLst>
            <pc:docMk/>
            <pc:sldMk cId="2477156519" sldId="265"/>
            <ac:picMk id="40" creationId="{4B58BFFE-72AE-A65A-D739-2A924F20DF9D}"/>
          </ac:picMkLst>
        </pc:picChg>
        <pc:picChg chg="del">
          <ac:chgData name="Chase Sun" userId="7bf6643f6e674ca5" providerId="LiveId" clId="{505E2666-61C0-4A5F-8DD1-98D9858EA433}" dt="2026-08-18T03:23:05.341" v="2307" actId="478"/>
          <ac:picMkLst>
            <pc:docMk/>
            <pc:sldMk cId="2477156519" sldId="265"/>
            <ac:picMk id="42" creationId="{BDE37CA5-502A-D3DB-1E3F-842C532147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E975F-2554-48BC-9FA3-FE8C6FF2C77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0" y="1143000"/>
            <a:ext cx="10287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3816D-8749-40A9-B479-219893629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7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1pPr>
    <a:lvl2pPr marL="27432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2pPr>
    <a:lvl3pPr marL="54864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3pPr>
    <a:lvl4pPr marL="82296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4pPr>
    <a:lvl5pPr marL="109728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5pPr>
    <a:lvl6pPr marL="137160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6pPr>
    <a:lvl7pPr marL="164592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7pPr>
    <a:lvl8pPr marL="192024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8pPr>
    <a:lvl9pPr marL="219456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39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9CF6-D13E-DAED-7EBB-7AF97E06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B7248-5934-229C-7117-4253EBC03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2AAC0-1B57-F904-BB6F-3C7803EBF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B3E1C-0177-E773-C944-9F64609A9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30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13EB5-DF4D-AA6F-98CB-02F69BBB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84A3E-09BC-F6D0-8670-2FC91FA07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0ED56-0DB0-C751-F48D-E6C90DDF4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79CFB-5D49-1DEA-2DD6-3E31B36AB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62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236F3-10DE-0CA9-3FD1-64DE3BFD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38368-4AAF-E949-AC8C-5F4DE0084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3D81A-0951-0FB7-F30D-4CF24ABAC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D3140-429E-63C0-07D6-EF23B6953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65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F7DC-B412-72CA-B23B-A74CA0E3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05842-A893-DE29-967F-94234D5DE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43D20-1DEF-41BB-3D16-218F562B0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259F1-227C-D1AA-9B5B-B2B2EBAF5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90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40F24-4EF4-AE04-E5A0-4FBF88C3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DDA81-471D-450C-04FD-4EC71266F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DCDA4-5F25-4B0A-F4D4-5EE54C88E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EFEB0-AACA-E87D-F568-E576B89CD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53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ABDC-7DD7-32A9-E419-F0ACD258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4CE01-9C1B-CBEC-9A0B-AC713038E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E3B52-507D-A4BD-F8E5-BFF18EE92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7B73F-0C93-C961-6C8E-539439DA9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26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7337C-C306-5454-C3BF-635D4D28F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BA8A9-5F3E-CA4B-6427-3E797841D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7F09A-2FFE-AF3F-1751-6A714B63C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5579A-687F-AC9E-ECAB-1D6A2BD23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63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816D-8749-40A9-B479-2198936297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2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448945"/>
            <a:ext cx="68580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440815"/>
            <a:ext cx="68580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94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3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3895"/>
            <a:ext cx="788670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835785"/>
            <a:ext cx="788670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21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730250"/>
            <a:ext cx="38862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730250"/>
            <a:ext cx="38862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3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46050"/>
            <a:ext cx="788670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672465"/>
            <a:ext cx="3868340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002030"/>
            <a:ext cx="3868340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672465"/>
            <a:ext cx="3887391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002030"/>
            <a:ext cx="3887391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1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4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3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82880"/>
            <a:ext cx="2949178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94970"/>
            <a:ext cx="462915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822960"/>
            <a:ext cx="2949178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1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82880"/>
            <a:ext cx="2949178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94970"/>
            <a:ext cx="462915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822960"/>
            <a:ext cx="2949178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1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3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46050"/>
            <a:ext cx="197167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6050"/>
            <a:ext cx="580072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0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46050"/>
            <a:ext cx="788670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730250"/>
            <a:ext cx="788670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2542540"/>
            <a:ext cx="20574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A2ACB-2BB8-4502-9B75-199F4A5257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2542540"/>
            <a:ext cx="30861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2542540"/>
            <a:ext cx="20574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C767B-0FBC-4110-A451-C03FCADAA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6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6CB577-1D22-A1F9-C755-6F50070BD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7"/>
          <a:stretch>
            <a:fillRect/>
          </a:stretch>
        </p:blipFill>
        <p:spPr>
          <a:xfrm>
            <a:off x="1846385" y="0"/>
            <a:ext cx="4078214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CF3469-A402-6EB0-C72C-52094535B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4" r="13655" b="18376"/>
          <a:stretch>
            <a:fillRect/>
          </a:stretch>
        </p:blipFill>
        <p:spPr>
          <a:xfrm>
            <a:off x="5926976" y="0"/>
            <a:ext cx="3217025" cy="2743200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5D8CA7-CF60-3545-4391-90C2D0840285}"/>
              </a:ext>
            </a:extLst>
          </p:cNvPr>
          <p:cNvSpPr txBox="1"/>
          <p:nvPr/>
        </p:nvSpPr>
        <p:spPr>
          <a:xfrm>
            <a:off x="46896" y="0"/>
            <a:ext cx="30491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cs typeface="Posterama" panose="020B0502040204020203" pitchFamily="34" charset="0"/>
              </a:rPr>
              <a:t>NRC PHANTOM 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BE3F0-5532-8F2D-C3F7-E3E1AE4A2487}"/>
              </a:ext>
            </a:extLst>
          </p:cNvPr>
          <p:cNvSpPr txBox="1"/>
          <p:nvPr/>
        </p:nvSpPr>
        <p:spPr>
          <a:xfrm>
            <a:off x="72684" y="457291"/>
            <a:ext cx="21781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Roboto" panose="02000000000000000000" pitchFamily="2" charset="0"/>
                <a:cs typeface="Roboto" panose="02000000000000000000" pitchFamily="2" charset="0"/>
              </a:rPr>
              <a:t>An ultra-lightweight, high-sensitivity, UAV 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deployable</a:t>
            </a:r>
            <a:r>
              <a:rPr lang="en-US" sz="1500" dirty="0">
                <a:ea typeface="Roboto" panose="02000000000000000000" pitchFamily="2" charset="0"/>
                <a:cs typeface="Roboto" panose="02000000000000000000" pitchFamily="2" charset="0"/>
              </a:rPr>
              <a:t> green-house gas sensor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3B2DBD-C226-0216-7A4A-67894820722E}"/>
              </a:ext>
            </a:extLst>
          </p:cNvPr>
          <p:cNvGrpSpPr/>
          <p:nvPr/>
        </p:nvGrpSpPr>
        <p:grpSpPr>
          <a:xfrm>
            <a:off x="244724" y="1734699"/>
            <a:ext cx="1572358" cy="1002538"/>
            <a:chOff x="174380" y="1897702"/>
            <a:chExt cx="1082187" cy="71117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3C0D4BE-CF99-09CF-C1BB-312026025427}"/>
                </a:ext>
              </a:extLst>
            </p:cNvPr>
            <p:cNvGrpSpPr/>
            <p:nvPr/>
          </p:nvGrpSpPr>
          <p:grpSpPr>
            <a:xfrm>
              <a:off x="174380" y="1897702"/>
              <a:ext cx="948627" cy="246221"/>
              <a:chOff x="193430" y="1669102"/>
              <a:chExt cx="948627" cy="246221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83FD262-78E3-F503-5416-0F9B295EF560}"/>
                  </a:ext>
                </a:extLst>
              </p:cNvPr>
              <p:cNvSpPr txBox="1"/>
              <p:nvPr/>
            </p:nvSpPr>
            <p:spPr>
              <a:xfrm>
                <a:off x="276114" y="1669102"/>
                <a:ext cx="86594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EMBEDDED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48153A7-4CF0-1A81-0182-F816471AA589}"/>
                  </a:ext>
                </a:extLst>
              </p:cNvPr>
              <p:cNvSpPr/>
              <p:nvPr/>
            </p:nvSpPr>
            <p:spPr>
              <a:xfrm>
                <a:off x="193430" y="1709788"/>
                <a:ext cx="99463" cy="897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483F4C7-FA72-2BF1-16DD-8B95345A37DA}"/>
                </a:ext>
              </a:extLst>
            </p:cNvPr>
            <p:cNvGrpSpPr/>
            <p:nvPr/>
          </p:nvGrpSpPr>
          <p:grpSpPr>
            <a:xfrm>
              <a:off x="174381" y="2056426"/>
              <a:ext cx="517928" cy="246221"/>
              <a:chOff x="193431" y="1671309"/>
              <a:chExt cx="517928" cy="246221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3356A9A-C123-F6E6-80B2-3404D7062C8B}"/>
                  </a:ext>
                </a:extLst>
              </p:cNvPr>
              <p:cNvSpPr txBox="1"/>
              <p:nvPr/>
            </p:nvSpPr>
            <p:spPr>
              <a:xfrm>
                <a:off x="278227" y="1671309"/>
                <a:ext cx="43313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PCB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18CFF67-BA74-F2EB-072A-E7BDFD43E98C}"/>
                  </a:ext>
                </a:extLst>
              </p:cNvPr>
              <p:cNvSpPr/>
              <p:nvPr/>
            </p:nvSpPr>
            <p:spPr>
              <a:xfrm>
                <a:off x="193431" y="1705708"/>
                <a:ext cx="99462" cy="937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BDDBBC9-6F1C-C6D0-3FE5-CC057AB23067}"/>
                </a:ext>
              </a:extLst>
            </p:cNvPr>
            <p:cNvGrpSpPr/>
            <p:nvPr/>
          </p:nvGrpSpPr>
          <p:grpSpPr>
            <a:xfrm>
              <a:off x="174381" y="2209187"/>
              <a:ext cx="516399" cy="174663"/>
              <a:chOff x="193431" y="1662841"/>
              <a:chExt cx="516399" cy="174663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89AB51D-2CB6-C153-420D-B267EA69AC8A}"/>
                  </a:ext>
                </a:extLst>
              </p:cNvPr>
              <p:cNvSpPr txBox="1"/>
              <p:nvPr/>
            </p:nvSpPr>
            <p:spPr>
              <a:xfrm>
                <a:off x="278227" y="1662841"/>
                <a:ext cx="431603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OPTICS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38847DD-A5B9-90B8-43C8-146481F03D80}"/>
                  </a:ext>
                </a:extLst>
              </p:cNvPr>
              <p:cNvSpPr/>
              <p:nvPr/>
            </p:nvSpPr>
            <p:spPr>
              <a:xfrm>
                <a:off x="193431" y="1700996"/>
                <a:ext cx="99462" cy="9849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ACF5D97-F77C-CEA5-F6AA-83417AB23460}"/>
                </a:ext>
              </a:extLst>
            </p:cNvPr>
            <p:cNvGrpSpPr/>
            <p:nvPr/>
          </p:nvGrpSpPr>
          <p:grpSpPr>
            <a:xfrm>
              <a:off x="174380" y="2362655"/>
              <a:ext cx="1082187" cy="246221"/>
              <a:chOff x="193430" y="1659792"/>
              <a:chExt cx="1082187" cy="2462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2900DC0-0C49-5DEE-1E2E-2CAE41E6FF59}"/>
                  </a:ext>
                </a:extLst>
              </p:cNvPr>
              <p:cNvSpPr txBox="1"/>
              <p:nvPr/>
            </p:nvSpPr>
            <p:spPr>
              <a:xfrm>
                <a:off x="278227" y="1659792"/>
                <a:ext cx="99739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MECHANICAL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CAA9F63-DD04-7B7C-5192-73CC32EBEA22}"/>
                  </a:ext>
                </a:extLst>
              </p:cNvPr>
              <p:cNvSpPr/>
              <p:nvPr/>
            </p:nvSpPr>
            <p:spPr>
              <a:xfrm>
                <a:off x="193430" y="1700996"/>
                <a:ext cx="99461" cy="9849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F4E62AC3-2662-AE87-6498-A653B52D1673}"/>
              </a:ext>
            </a:extLst>
          </p:cNvPr>
          <p:cNvSpPr/>
          <p:nvPr/>
        </p:nvSpPr>
        <p:spPr>
          <a:xfrm>
            <a:off x="-5861" y="140494"/>
            <a:ext cx="58616" cy="12858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7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DD2A-C906-7D63-0715-919E3FDF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323148-DFA8-4B9E-CF34-446ABCDFD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6" r="9148" b="6179"/>
          <a:stretch>
            <a:fillRect/>
          </a:stretch>
        </p:blipFill>
        <p:spPr>
          <a:xfrm>
            <a:off x="2160692" y="0"/>
            <a:ext cx="3959265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4F7ACD-6D3F-7F08-9003-3F2CE72FA97A}"/>
              </a:ext>
            </a:extLst>
          </p:cNvPr>
          <p:cNvSpPr txBox="1"/>
          <p:nvPr/>
        </p:nvSpPr>
        <p:spPr>
          <a:xfrm>
            <a:off x="52757" y="5963"/>
            <a:ext cx="3264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GT MINIFORKLIFT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8AA25-F6D4-0D6C-444B-B4D96444DF18}"/>
              </a:ext>
            </a:extLst>
          </p:cNvPr>
          <p:cNvSpPr txBox="1"/>
          <p:nvPr/>
        </p:nvSpPr>
        <p:spPr>
          <a:xfrm>
            <a:off x="73533" y="457291"/>
            <a:ext cx="2326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Lato" panose="020F0502020204030203" pitchFamily="34" charset="0"/>
                <a:cs typeface="Lato" panose="020F0502020204030203" pitchFamily="34" charset="0"/>
              </a:rPr>
              <a:t>A hinge-free, under-actuated soft exoskeleton for injury prevention and metabolic cost reduction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BEB3A-EAF0-EEC3-546B-37535FB56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6" t="6575" r="19652" b="15025"/>
          <a:stretch>
            <a:fillRect/>
          </a:stretch>
        </p:blipFill>
        <p:spPr>
          <a:xfrm>
            <a:off x="7631978" y="0"/>
            <a:ext cx="1512022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A0FB9E-5446-806A-49A4-6BE577B18F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t="7743" r="18593" b="15588"/>
          <a:stretch>
            <a:fillRect/>
          </a:stretch>
        </p:blipFill>
        <p:spPr>
          <a:xfrm>
            <a:off x="5932964" y="0"/>
            <a:ext cx="1699014" cy="274320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BD602E81-48CF-7571-B9C4-4A58BFCBD3D8}"/>
              </a:ext>
            </a:extLst>
          </p:cNvPr>
          <p:cNvGrpSpPr/>
          <p:nvPr/>
        </p:nvGrpSpPr>
        <p:grpSpPr>
          <a:xfrm>
            <a:off x="244724" y="1734699"/>
            <a:ext cx="1378303" cy="901663"/>
            <a:chOff x="174380" y="1897702"/>
            <a:chExt cx="948627" cy="63961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FFF1A37-6CE0-B5EA-4133-67858A10B5CF}"/>
                </a:ext>
              </a:extLst>
            </p:cNvPr>
            <p:cNvGrpSpPr/>
            <p:nvPr/>
          </p:nvGrpSpPr>
          <p:grpSpPr>
            <a:xfrm>
              <a:off x="174380" y="1897702"/>
              <a:ext cx="948627" cy="246221"/>
              <a:chOff x="193430" y="1669102"/>
              <a:chExt cx="948627" cy="246221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707ECE3-4EDF-B1F1-E318-6BB3CA769D7A}"/>
                  </a:ext>
                </a:extLst>
              </p:cNvPr>
              <p:cNvSpPr txBox="1"/>
              <p:nvPr/>
            </p:nvSpPr>
            <p:spPr>
              <a:xfrm>
                <a:off x="276114" y="1669102"/>
                <a:ext cx="86594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EMBEDDED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5C1E637-DABA-4064-7441-E33075798C6D}"/>
                  </a:ext>
                </a:extLst>
              </p:cNvPr>
              <p:cNvSpPr/>
              <p:nvPr/>
            </p:nvSpPr>
            <p:spPr>
              <a:xfrm>
                <a:off x="193430" y="1709788"/>
                <a:ext cx="99463" cy="897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296B270-DA08-6625-FE4A-87E21CE371E4}"/>
                </a:ext>
              </a:extLst>
            </p:cNvPr>
            <p:cNvGrpSpPr/>
            <p:nvPr/>
          </p:nvGrpSpPr>
          <p:grpSpPr>
            <a:xfrm>
              <a:off x="174381" y="2056426"/>
              <a:ext cx="771256" cy="174663"/>
              <a:chOff x="193431" y="1671309"/>
              <a:chExt cx="771256" cy="17466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2B6BAB-8CC2-B317-B64C-6FA111C872FC}"/>
                  </a:ext>
                </a:extLst>
              </p:cNvPr>
              <p:cNvSpPr txBox="1"/>
              <p:nvPr/>
            </p:nvSpPr>
            <p:spPr>
              <a:xfrm>
                <a:off x="278227" y="1671309"/>
                <a:ext cx="686460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MECHANICAL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A1E479B-027D-470E-B9CF-15433E2D96F4}"/>
                  </a:ext>
                </a:extLst>
              </p:cNvPr>
              <p:cNvSpPr/>
              <p:nvPr/>
            </p:nvSpPr>
            <p:spPr>
              <a:xfrm>
                <a:off x="193431" y="1705708"/>
                <a:ext cx="99462" cy="93784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E6487C7-4767-D691-CA73-46F16AF94DE5}"/>
                </a:ext>
              </a:extLst>
            </p:cNvPr>
            <p:cNvGrpSpPr/>
            <p:nvPr/>
          </p:nvGrpSpPr>
          <p:grpSpPr>
            <a:xfrm>
              <a:off x="174381" y="2209187"/>
              <a:ext cx="663135" cy="174663"/>
              <a:chOff x="193431" y="1662841"/>
              <a:chExt cx="663135" cy="174663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9383352-27D5-6D4D-7E97-0B666012AAF5}"/>
                  </a:ext>
                </a:extLst>
              </p:cNvPr>
              <p:cNvSpPr txBox="1"/>
              <p:nvPr/>
            </p:nvSpPr>
            <p:spPr>
              <a:xfrm>
                <a:off x="278227" y="1662841"/>
                <a:ext cx="578339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WEARABLE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C1E974F-2827-C9B2-CAF2-5D7378FA4778}"/>
                  </a:ext>
                </a:extLst>
              </p:cNvPr>
              <p:cNvSpPr/>
              <p:nvPr/>
            </p:nvSpPr>
            <p:spPr>
              <a:xfrm>
                <a:off x="193431" y="1700996"/>
                <a:ext cx="99462" cy="984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2DB3E68-C954-9F52-8499-D85B498C574C}"/>
                </a:ext>
              </a:extLst>
            </p:cNvPr>
            <p:cNvGrpSpPr/>
            <p:nvPr/>
          </p:nvGrpSpPr>
          <p:grpSpPr>
            <a:xfrm>
              <a:off x="174380" y="2362655"/>
              <a:ext cx="667550" cy="174663"/>
              <a:chOff x="193430" y="1659792"/>
              <a:chExt cx="667550" cy="174663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F89A62D-AE5B-3FCA-B898-001995F8FF3A}"/>
                  </a:ext>
                </a:extLst>
              </p:cNvPr>
              <p:cNvSpPr txBox="1"/>
              <p:nvPr/>
            </p:nvSpPr>
            <p:spPr>
              <a:xfrm>
                <a:off x="278227" y="1659792"/>
                <a:ext cx="582753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CONTROLS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2EE108D-40FF-2807-D5D0-1F44556F68BB}"/>
                  </a:ext>
                </a:extLst>
              </p:cNvPr>
              <p:cNvSpPr/>
              <p:nvPr/>
            </p:nvSpPr>
            <p:spPr>
              <a:xfrm>
                <a:off x="193430" y="1700996"/>
                <a:ext cx="99461" cy="9849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06CEF4EA-8E7C-8ACA-48C9-3145A8762FC8}"/>
              </a:ext>
            </a:extLst>
          </p:cNvPr>
          <p:cNvSpPr/>
          <p:nvPr/>
        </p:nvSpPr>
        <p:spPr>
          <a:xfrm>
            <a:off x="-5861" y="140495"/>
            <a:ext cx="58616" cy="12311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A7D7-F12B-15F5-D97A-A092FAB1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CCC16A-7C02-AC14-5841-EBA4E71BF961}"/>
              </a:ext>
            </a:extLst>
          </p:cNvPr>
          <p:cNvSpPr txBox="1"/>
          <p:nvPr/>
        </p:nvSpPr>
        <p:spPr>
          <a:xfrm>
            <a:off x="52757" y="5963"/>
            <a:ext cx="3264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SONIC CHIPPY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63FDF-425C-6819-3F53-D260559D1370}"/>
              </a:ext>
            </a:extLst>
          </p:cNvPr>
          <p:cNvSpPr txBox="1"/>
          <p:nvPr/>
        </p:nvSpPr>
        <p:spPr>
          <a:xfrm>
            <a:off x="73533" y="457291"/>
            <a:ext cx="21616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Lato" panose="020F0502020204030203" pitchFamily="34" charset="0"/>
                <a:cs typeface="Lato" panose="020F0502020204030203" pitchFamily="34" charset="0"/>
              </a:rPr>
              <a:t>A light-weight, high sampling rate wind sensor for air flux calculation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80DEAB-8BE5-3602-2628-ACC2F36DDB0E}"/>
              </a:ext>
            </a:extLst>
          </p:cNvPr>
          <p:cNvSpPr/>
          <p:nvPr/>
        </p:nvSpPr>
        <p:spPr>
          <a:xfrm>
            <a:off x="-5861" y="140495"/>
            <a:ext cx="58616" cy="12311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880980-4081-6765-A4EE-73E7AAABA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5" t="29875" r="32285" b="10881"/>
          <a:stretch>
            <a:fillRect/>
          </a:stretch>
        </p:blipFill>
        <p:spPr>
          <a:xfrm>
            <a:off x="5932964" y="0"/>
            <a:ext cx="3211036" cy="27432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F522608-E42F-8BD9-53EF-280D2A372D31}"/>
              </a:ext>
            </a:extLst>
          </p:cNvPr>
          <p:cNvGrpSpPr/>
          <p:nvPr/>
        </p:nvGrpSpPr>
        <p:grpSpPr>
          <a:xfrm>
            <a:off x="244724" y="1958452"/>
            <a:ext cx="1120594" cy="677911"/>
            <a:chOff x="174380" y="2056426"/>
            <a:chExt cx="771257" cy="48089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087C88A-C3F4-AEAC-DA55-758E58D0539A}"/>
                </a:ext>
              </a:extLst>
            </p:cNvPr>
            <p:cNvGrpSpPr/>
            <p:nvPr/>
          </p:nvGrpSpPr>
          <p:grpSpPr>
            <a:xfrm>
              <a:off x="174381" y="2056426"/>
              <a:ext cx="680787" cy="174663"/>
              <a:chOff x="193431" y="1671309"/>
              <a:chExt cx="680787" cy="174663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EF90F2E-8CC7-0E9E-2C35-0F409974A35D}"/>
                  </a:ext>
                </a:extLst>
              </p:cNvPr>
              <p:cNvSpPr txBox="1"/>
              <p:nvPr/>
            </p:nvSpPr>
            <p:spPr>
              <a:xfrm>
                <a:off x="278227" y="1671309"/>
                <a:ext cx="595991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EMBEDDED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7AC76CF-B8D8-92A3-24CB-646A41033F46}"/>
                  </a:ext>
                </a:extLst>
              </p:cNvPr>
              <p:cNvSpPr/>
              <p:nvPr/>
            </p:nvSpPr>
            <p:spPr>
              <a:xfrm>
                <a:off x="193431" y="1705708"/>
                <a:ext cx="99462" cy="9378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68D5C01-4DDD-A808-284A-C12317D643EC}"/>
                </a:ext>
              </a:extLst>
            </p:cNvPr>
            <p:cNvGrpSpPr/>
            <p:nvPr/>
          </p:nvGrpSpPr>
          <p:grpSpPr>
            <a:xfrm>
              <a:off x="174381" y="2209187"/>
              <a:ext cx="382902" cy="174663"/>
              <a:chOff x="193431" y="1662841"/>
              <a:chExt cx="382902" cy="174663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D0F6574-2EA6-35E1-EC0B-30B3E97B1C40}"/>
                  </a:ext>
                </a:extLst>
              </p:cNvPr>
              <p:cNvSpPr txBox="1"/>
              <p:nvPr/>
            </p:nvSpPr>
            <p:spPr>
              <a:xfrm>
                <a:off x="278227" y="1662841"/>
                <a:ext cx="298106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PCB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E20C5BD-DEC4-F2F7-AC40-5057DD353D87}"/>
                  </a:ext>
                </a:extLst>
              </p:cNvPr>
              <p:cNvSpPr/>
              <p:nvPr/>
            </p:nvSpPr>
            <p:spPr>
              <a:xfrm>
                <a:off x="193431" y="1700996"/>
                <a:ext cx="99462" cy="984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93B36F1-CEDB-9EED-7730-0E980C8CA90B}"/>
                </a:ext>
              </a:extLst>
            </p:cNvPr>
            <p:cNvGrpSpPr/>
            <p:nvPr/>
          </p:nvGrpSpPr>
          <p:grpSpPr>
            <a:xfrm>
              <a:off x="174380" y="2362655"/>
              <a:ext cx="771257" cy="174663"/>
              <a:chOff x="193430" y="1659792"/>
              <a:chExt cx="771257" cy="174663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DAFAD4C-D2AC-64F3-1D8F-40E25910DB9A}"/>
                  </a:ext>
                </a:extLst>
              </p:cNvPr>
              <p:cNvSpPr txBox="1"/>
              <p:nvPr/>
            </p:nvSpPr>
            <p:spPr>
              <a:xfrm>
                <a:off x="278227" y="1659792"/>
                <a:ext cx="686460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MECHANICAL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343AE6F-7437-36EF-9CA2-29DFFA2C5633}"/>
                  </a:ext>
                </a:extLst>
              </p:cNvPr>
              <p:cNvSpPr/>
              <p:nvPr/>
            </p:nvSpPr>
            <p:spPr>
              <a:xfrm>
                <a:off x="193430" y="1700996"/>
                <a:ext cx="99461" cy="9849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62CABB11-31C6-08D8-014A-8A5CAB304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02" y="-314944"/>
            <a:ext cx="6356969" cy="357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60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F42C8A-8B2C-43F8-2DFB-5F346B5E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D015F66-E54F-56A3-C21C-FF83C5C2A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r="9445"/>
          <a:stretch>
            <a:fillRect/>
          </a:stretch>
        </p:blipFill>
        <p:spPr>
          <a:xfrm>
            <a:off x="5931041" y="0"/>
            <a:ext cx="3212959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5EECDE-5B68-EC57-30ED-1A7B2C20CC3E}"/>
              </a:ext>
            </a:extLst>
          </p:cNvPr>
          <p:cNvSpPr txBox="1"/>
          <p:nvPr/>
        </p:nvSpPr>
        <p:spPr>
          <a:xfrm>
            <a:off x="52757" y="5963"/>
            <a:ext cx="3264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SENSOR SUIT V2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E16EC-3DA5-B2AD-8C46-05B93AC16E90}"/>
              </a:ext>
            </a:extLst>
          </p:cNvPr>
          <p:cNvSpPr txBox="1"/>
          <p:nvPr/>
        </p:nvSpPr>
        <p:spPr>
          <a:xfrm>
            <a:off x="73533" y="457291"/>
            <a:ext cx="1856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Lato" panose="020F0502020204030203" pitchFamily="34" charset="0"/>
                <a:cs typeface="Lato" panose="020F0502020204030203" pitchFamily="34" charset="0"/>
              </a:rPr>
              <a:t>A custom, 9-axis wearable IMU for biomechanics and exoskeleton control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F0ACAC-996A-4236-B90C-45C5CFBAB9B5}"/>
              </a:ext>
            </a:extLst>
          </p:cNvPr>
          <p:cNvSpPr/>
          <p:nvPr/>
        </p:nvSpPr>
        <p:spPr>
          <a:xfrm>
            <a:off x="-5861" y="140495"/>
            <a:ext cx="58616" cy="12525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5E00C6-EF5D-4CFD-B937-92A73F79B0FF}"/>
              </a:ext>
            </a:extLst>
          </p:cNvPr>
          <p:cNvGrpSpPr/>
          <p:nvPr/>
        </p:nvGrpSpPr>
        <p:grpSpPr>
          <a:xfrm>
            <a:off x="244724" y="1958452"/>
            <a:ext cx="989148" cy="677911"/>
            <a:chOff x="174380" y="2056426"/>
            <a:chExt cx="680788" cy="48089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DBAF4AB-810F-8F48-4FE2-102C45407DE4}"/>
                </a:ext>
              </a:extLst>
            </p:cNvPr>
            <p:cNvGrpSpPr/>
            <p:nvPr/>
          </p:nvGrpSpPr>
          <p:grpSpPr>
            <a:xfrm>
              <a:off x="174381" y="2056426"/>
              <a:ext cx="680787" cy="174663"/>
              <a:chOff x="193431" y="1671309"/>
              <a:chExt cx="680787" cy="174663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EBECB5-FDD7-B5D5-0DB1-69455E013A56}"/>
                  </a:ext>
                </a:extLst>
              </p:cNvPr>
              <p:cNvSpPr txBox="1"/>
              <p:nvPr/>
            </p:nvSpPr>
            <p:spPr>
              <a:xfrm>
                <a:off x="278227" y="1671309"/>
                <a:ext cx="595991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EMBEDDED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C03D05E-B1DC-AF94-CFF1-0623D3CAC102}"/>
                  </a:ext>
                </a:extLst>
              </p:cNvPr>
              <p:cNvSpPr/>
              <p:nvPr/>
            </p:nvSpPr>
            <p:spPr>
              <a:xfrm>
                <a:off x="193431" y="1705708"/>
                <a:ext cx="99462" cy="9378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D6DB30-78A8-3C2B-6B22-43CEEB3A759D}"/>
                </a:ext>
              </a:extLst>
            </p:cNvPr>
            <p:cNvGrpSpPr/>
            <p:nvPr/>
          </p:nvGrpSpPr>
          <p:grpSpPr>
            <a:xfrm>
              <a:off x="174381" y="2209187"/>
              <a:ext cx="382902" cy="174663"/>
              <a:chOff x="193431" y="1662841"/>
              <a:chExt cx="382902" cy="17466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1D503C-76AA-237D-6894-3790ED65909C}"/>
                  </a:ext>
                </a:extLst>
              </p:cNvPr>
              <p:cNvSpPr txBox="1"/>
              <p:nvPr/>
            </p:nvSpPr>
            <p:spPr>
              <a:xfrm>
                <a:off x="278227" y="1662841"/>
                <a:ext cx="298106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PCB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EF1189-CE25-4603-4A64-30F0F80B35C9}"/>
                  </a:ext>
                </a:extLst>
              </p:cNvPr>
              <p:cNvSpPr/>
              <p:nvPr/>
            </p:nvSpPr>
            <p:spPr>
              <a:xfrm>
                <a:off x="193431" y="1700996"/>
                <a:ext cx="99462" cy="984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8579E17-1078-BC77-9ED1-3E304AF03524}"/>
                </a:ext>
              </a:extLst>
            </p:cNvPr>
            <p:cNvGrpSpPr/>
            <p:nvPr/>
          </p:nvGrpSpPr>
          <p:grpSpPr>
            <a:xfrm>
              <a:off x="174380" y="2362655"/>
              <a:ext cx="663136" cy="174663"/>
              <a:chOff x="193430" y="1659792"/>
              <a:chExt cx="663136" cy="17466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F9B5091-9404-23AC-F0B8-45C80ADC3570}"/>
                  </a:ext>
                </a:extLst>
              </p:cNvPr>
              <p:cNvSpPr txBox="1"/>
              <p:nvPr/>
            </p:nvSpPr>
            <p:spPr>
              <a:xfrm>
                <a:off x="278227" y="1659792"/>
                <a:ext cx="578339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WEARABLE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D9B687A-C551-B1F5-ACF4-3EB308FA4F77}"/>
                  </a:ext>
                </a:extLst>
              </p:cNvPr>
              <p:cNvSpPr/>
              <p:nvPr/>
            </p:nvSpPr>
            <p:spPr>
              <a:xfrm>
                <a:off x="193430" y="1700996"/>
                <a:ext cx="99461" cy="984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3D123AE6-E413-9B9E-D8AD-50F41FB25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93" t="16670" r="19531" b="12871"/>
          <a:stretch>
            <a:fillRect/>
          </a:stretch>
        </p:blipFill>
        <p:spPr>
          <a:xfrm>
            <a:off x="3084178" y="-55969"/>
            <a:ext cx="2846863" cy="193285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189FBDE-57D2-9672-62A8-E5EAB2F971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18774" r="19164" b="8771"/>
          <a:stretch>
            <a:fillRect/>
          </a:stretch>
        </p:blipFill>
        <p:spPr>
          <a:xfrm>
            <a:off x="1813627" y="808404"/>
            <a:ext cx="2844941" cy="19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0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6D828-A443-5826-0C86-2D3276DE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95DEF865-6B65-3BFB-E726-B0C8EA376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r="9445"/>
          <a:stretch>
            <a:fillRect/>
          </a:stretch>
        </p:blipFill>
        <p:spPr>
          <a:xfrm>
            <a:off x="5931041" y="0"/>
            <a:ext cx="3212959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07A66C-FE08-9FF2-AB6E-AFF04E2EBF57}"/>
              </a:ext>
            </a:extLst>
          </p:cNvPr>
          <p:cNvSpPr txBox="1"/>
          <p:nvPr/>
        </p:nvSpPr>
        <p:spPr>
          <a:xfrm>
            <a:off x="52757" y="5963"/>
            <a:ext cx="47771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CHASE’S SIXTH SENSE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038AF-429B-A35D-18BA-E2472D0E9AA4}"/>
              </a:ext>
            </a:extLst>
          </p:cNvPr>
          <p:cNvSpPr txBox="1"/>
          <p:nvPr/>
        </p:nvSpPr>
        <p:spPr>
          <a:xfrm>
            <a:off x="73533" y="451429"/>
            <a:ext cx="25172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Lato" panose="020F0502020204030203" pitchFamily="34" charset="0"/>
                <a:cs typeface="Lato" panose="020F0502020204030203" pitchFamily="34" charset="0"/>
              </a:rPr>
              <a:t>An open-source, CAN / BLE capable high-precision IMU for wearable robotics and biomechanics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756208-779D-0B38-7B02-FE98723BF9C7}"/>
              </a:ext>
            </a:extLst>
          </p:cNvPr>
          <p:cNvSpPr/>
          <p:nvPr/>
        </p:nvSpPr>
        <p:spPr>
          <a:xfrm>
            <a:off x="-5861" y="140495"/>
            <a:ext cx="58616" cy="12525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F495F9-7EED-1FDF-CF21-7132311E1DB3}"/>
              </a:ext>
            </a:extLst>
          </p:cNvPr>
          <p:cNvGrpSpPr/>
          <p:nvPr/>
        </p:nvGrpSpPr>
        <p:grpSpPr>
          <a:xfrm>
            <a:off x="244724" y="1958452"/>
            <a:ext cx="989148" cy="677911"/>
            <a:chOff x="174380" y="2056426"/>
            <a:chExt cx="680788" cy="48089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BF69BA3-FD89-A598-7923-BCF03DAEEC9C}"/>
                </a:ext>
              </a:extLst>
            </p:cNvPr>
            <p:cNvGrpSpPr/>
            <p:nvPr/>
          </p:nvGrpSpPr>
          <p:grpSpPr>
            <a:xfrm>
              <a:off x="174381" y="2056426"/>
              <a:ext cx="680787" cy="174663"/>
              <a:chOff x="193431" y="1671309"/>
              <a:chExt cx="680787" cy="174663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A57FAE-D983-74B6-C9A6-D477A064E796}"/>
                  </a:ext>
                </a:extLst>
              </p:cNvPr>
              <p:cNvSpPr txBox="1"/>
              <p:nvPr/>
            </p:nvSpPr>
            <p:spPr>
              <a:xfrm>
                <a:off x="278227" y="1671309"/>
                <a:ext cx="595991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EMBEDDED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11FB76B-43C1-A475-B00F-D60CAA82DC9C}"/>
                  </a:ext>
                </a:extLst>
              </p:cNvPr>
              <p:cNvSpPr/>
              <p:nvPr/>
            </p:nvSpPr>
            <p:spPr>
              <a:xfrm>
                <a:off x="193431" y="1705708"/>
                <a:ext cx="99462" cy="9378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2532A9F-9609-1C63-F7BF-1041843E463C}"/>
                </a:ext>
              </a:extLst>
            </p:cNvPr>
            <p:cNvGrpSpPr/>
            <p:nvPr/>
          </p:nvGrpSpPr>
          <p:grpSpPr>
            <a:xfrm>
              <a:off x="174381" y="2209187"/>
              <a:ext cx="382902" cy="174663"/>
              <a:chOff x="193431" y="1662841"/>
              <a:chExt cx="382902" cy="17466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A2F8B6-F77C-4FAC-7845-90553E5EE204}"/>
                  </a:ext>
                </a:extLst>
              </p:cNvPr>
              <p:cNvSpPr txBox="1"/>
              <p:nvPr/>
            </p:nvSpPr>
            <p:spPr>
              <a:xfrm>
                <a:off x="278227" y="1662841"/>
                <a:ext cx="298106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PCB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17A2FE-E0A2-853C-0352-393C8A645237}"/>
                  </a:ext>
                </a:extLst>
              </p:cNvPr>
              <p:cNvSpPr/>
              <p:nvPr/>
            </p:nvSpPr>
            <p:spPr>
              <a:xfrm>
                <a:off x="193431" y="1700996"/>
                <a:ext cx="99462" cy="984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EEB3F4F-6E79-8A6B-C08D-6ADD330C8521}"/>
                </a:ext>
              </a:extLst>
            </p:cNvPr>
            <p:cNvGrpSpPr/>
            <p:nvPr/>
          </p:nvGrpSpPr>
          <p:grpSpPr>
            <a:xfrm>
              <a:off x="174380" y="2362655"/>
              <a:ext cx="663136" cy="174663"/>
              <a:chOff x="193430" y="1659792"/>
              <a:chExt cx="663136" cy="17466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556862-2712-F7D7-1602-6F6C01BB1CF1}"/>
                  </a:ext>
                </a:extLst>
              </p:cNvPr>
              <p:cNvSpPr txBox="1"/>
              <p:nvPr/>
            </p:nvSpPr>
            <p:spPr>
              <a:xfrm>
                <a:off x="278227" y="1659792"/>
                <a:ext cx="578339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WEARABLE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7280A77-FA85-6824-44BB-15BE37DB1721}"/>
                  </a:ext>
                </a:extLst>
              </p:cNvPr>
              <p:cNvSpPr/>
              <p:nvPr/>
            </p:nvSpPr>
            <p:spPr>
              <a:xfrm>
                <a:off x="193430" y="1700996"/>
                <a:ext cx="99461" cy="984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0249349-174E-3630-F6AD-49E3AA5DD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520" y="216876"/>
            <a:ext cx="4876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5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A93C-BE66-3E85-6FDB-BBE9112F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4AC0F10-E94E-AE6B-FBE6-D93A629F7994}"/>
              </a:ext>
            </a:extLst>
          </p:cNvPr>
          <p:cNvSpPr txBox="1"/>
          <p:nvPr/>
        </p:nvSpPr>
        <p:spPr>
          <a:xfrm>
            <a:off x="52757" y="5963"/>
            <a:ext cx="3264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NRC PTI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735F7-A1B1-F841-04D8-8496B79904D4}"/>
              </a:ext>
            </a:extLst>
          </p:cNvPr>
          <p:cNvSpPr txBox="1"/>
          <p:nvPr/>
        </p:nvSpPr>
        <p:spPr>
          <a:xfrm>
            <a:off x="73533" y="457291"/>
            <a:ext cx="224294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Lato" panose="020F0502020204030203" pitchFamily="34" charset="0"/>
                <a:cs typeface="Lato" panose="020F0502020204030203" pitchFamily="34" charset="0"/>
              </a:rPr>
              <a:t>A flow chamber for a photothermal </a:t>
            </a:r>
            <a:r>
              <a:rPr lang="en-US" sz="1600" dirty="0"/>
              <a:t>interferometer for aerosol measurements </a:t>
            </a:r>
            <a:endParaRPr lang="en-US" sz="1500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4DACA4-BEC6-ACCC-214F-7DB7D771E07A}"/>
              </a:ext>
            </a:extLst>
          </p:cNvPr>
          <p:cNvSpPr/>
          <p:nvPr/>
        </p:nvSpPr>
        <p:spPr>
          <a:xfrm>
            <a:off x="-5861" y="140495"/>
            <a:ext cx="58616" cy="12525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AB0C89-55AC-05D6-87F2-A2EED26F466B}"/>
              </a:ext>
            </a:extLst>
          </p:cNvPr>
          <p:cNvGrpSpPr/>
          <p:nvPr/>
        </p:nvGrpSpPr>
        <p:grpSpPr>
          <a:xfrm>
            <a:off x="244724" y="1958452"/>
            <a:ext cx="1120594" cy="677911"/>
            <a:chOff x="174380" y="2056426"/>
            <a:chExt cx="771256" cy="48089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6D73EB5-0B7E-CD42-91DE-ADD520346D85}"/>
                </a:ext>
              </a:extLst>
            </p:cNvPr>
            <p:cNvGrpSpPr/>
            <p:nvPr/>
          </p:nvGrpSpPr>
          <p:grpSpPr>
            <a:xfrm>
              <a:off x="174381" y="2056426"/>
              <a:ext cx="771255" cy="174663"/>
              <a:chOff x="193431" y="1671309"/>
              <a:chExt cx="771255" cy="174663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B6141F-5E01-6348-3DCA-3A9D6BEB8A18}"/>
                  </a:ext>
                </a:extLst>
              </p:cNvPr>
              <p:cNvSpPr txBox="1"/>
              <p:nvPr/>
            </p:nvSpPr>
            <p:spPr>
              <a:xfrm>
                <a:off x="278227" y="1671309"/>
                <a:ext cx="686459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MECHANICAL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D166CBF-2A3B-16EF-C06D-099496FC90E4}"/>
                  </a:ext>
                </a:extLst>
              </p:cNvPr>
              <p:cNvSpPr/>
              <p:nvPr/>
            </p:nvSpPr>
            <p:spPr>
              <a:xfrm>
                <a:off x="193431" y="1705708"/>
                <a:ext cx="99462" cy="93784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5C5BCA0-9525-C967-72CE-539AC9047D37}"/>
                </a:ext>
              </a:extLst>
            </p:cNvPr>
            <p:cNvGrpSpPr/>
            <p:nvPr/>
          </p:nvGrpSpPr>
          <p:grpSpPr>
            <a:xfrm>
              <a:off x="174381" y="2209187"/>
              <a:ext cx="380695" cy="174662"/>
              <a:chOff x="193431" y="1662841"/>
              <a:chExt cx="380695" cy="174662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BEE4AC-8492-4C4B-E446-360FA82289D9}"/>
                  </a:ext>
                </a:extLst>
              </p:cNvPr>
              <p:cNvSpPr txBox="1"/>
              <p:nvPr/>
            </p:nvSpPr>
            <p:spPr>
              <a:xfrm>
                <a:off x="278227" y="1662841"/>
                <a:ext cx="295899" cy="174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CAE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B3412F8-46A7-ACE9-ED1B-C814A36503ED}"/>
                  </a:ext>
                </a:extLst>
              </p:cNvPr>
              <p:cNvSpPr/>
              <p:nvPr/>
            </p:nvSpPr>
            <p:spPr>
              <a:xfrm>
                <a:off x="193431" y="1700996"/>
                <a:ext cx="99462" cy="984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7035B51-4733-37C5-BBB6-B65EFD15CBC3}"/>
                </a:ext>
              </a:extLst>
            </p:cNvPr>
            <p:cNvGrpSpPr/>
            <p:nvPr/>
          </p:nvGrpSpPr>
          <p:grpSpPr>
            <a:xfrm>
              <a:off x="174380" y="2362655"/>
              <a:ext cx="516399" cy="174663"/>
              <a:chOff x="193430" y="1659792"/>
              <a:chExt cx="516399" cy="17466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BA2A692-C31B-F1A3-6195-5A0FB1DCFD2B}"/>
                  </a:ext>
                </a:extLst>
              </p:cNvPr>
              <p:cNvSpPr txBox="1"/>
              <p:nvPr/>
            </p:nvSpPr>
            <p:spPr>
              <a:xfrm>
                <a:off x="278227" y="1659792"/>
                <a:ext cx="431602" cy="17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OPTICS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FD068D7-58B5-A19C-A65C-7078B028FBCD}"/>
                  </a:ext>
                </a:extLst>
              </p:cNvPr>
              <p:cNvSpPr/>
              <p:nvPr/>
            </p:nvSpPr>
            <p:spPr>
              <a:xfrm>
                <a:off x="193430" y="1700996"/>
                <a:ext cx="99461" cy="9849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F220E2D-FD78-653E-CE9E-4FFBC9D03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18229" y="-222400"/>
            <a:ext cx="5448148" cy="33070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3A074B-8CA8-3BFE-6978-9EBAB7660C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4" t="-11704" r="10536" b="-10299"/>
          <a:stretch>
            <a:fillRect/>
          </a:stretch>
        </p:blipFill>
        <p:spPr>
          <a:xfrm>
            <a:off x="5931042" y="0"/>
            <a:ext cx="3212958" cy="2743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517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8DF20-C9B5-6C0F-BE3D-8546F78E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CB8F45-7F1B-A549-6EB2-8A0B18E628F4}"/>
              </a:ext>
            </a:extLst>
          </p:cNvPr>
          <p:cNvSpPr txBox="1"/>
          <p:nvPr/>
        </p:nvSpPr>
        <p:spPr>
          <a:xfrm>
            <a:off x="52757" y="5963"/>
            <a:ext cx="3264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PEREGRINE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116B4-AC05-ECEB-683A-25FB08F054C2}"/>
              </a:ext>
            </a:extLst>
          </p:cNvPr>
          <p:cNvSpPr txBox="1"/>
          <p:nvPr/>
        </p:nvSpPr>
        <p:spPr>
          <a:xfrm>
            <a:off x="73533" y="457291"/>
            <a:ext cx="22429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Lato" panose="020F0502020204030203" pitchFamily="34" charset="0"/>
                <a:cs typeface="Lato" panose="020F0502020204030203" pitchFamily="34" charset="0"/>
              </a:rPr>
              <a:t>A design for a blended-wing body, vertical takeoff / landing (VTOL) UAV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40C76E-520E-80F1-9A7B-111CECA7C66A}"/>
              </a:ext>
            </a:extLst>
          </p:cNvPr>
          <p:cNvSpPr/>
          <p:nvPr/>
        </p:nvSpPr>
        <p:spPr>
          <a:xfrm>
            <a:off x="-5861" y="140495"/>
            <a:ext cx="58616" cy="12525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9E2790-38B7-CF4E-7217-26FFECA4DE9A}"/>
              </a:ext>
            </a:extLst>
          </p:cNvPr>
          <p:cNvGrpSpPr/>
          <p:nvPr/>
        </p:nvGrpSpPr>
        <p:grpSpPr>
          <a:xfrm>
            <a:off x="244724" y="2173805"/>
            <a:ext cx="1120594" cy="462564"/>
            <a:chOff x="174380" y="2209187"/>
            <a:chExt cx="771256" cy="32813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1FE78AC-6301-FF11-0F17-6F4967A037E6}"/>
                </a:ext>
              </a:extLst>
            </p:cNvPr>
            <p:cNvGrpSpPr/>
            <p:nvPr/>
          </p:nvGrpSpPr>
          <p:grpSpPr>
            <a:xfrm>
              <a:off x="174381" y="2209187"/>
              <a:ext cx="771255" cy="174662"/>
              <a:chOff x="193431" y="1662841"/>
              <a:chExt cx="771255" cy="174662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BAFA26E-2360-8A69-64DC-792BCF16DA8F}"/>
                  </a:ext>
                </a:extLst>
              </p:cNvPr>
              <p:cNvSpPr txBox="1"/>
              <p:nvPr/>
            </p:nvSpPr>
            <p:spPr>
              <a:xfrm>
                <a:off x="278227" y="1662841"/>
                <a:ext cx="686459" cy="174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MECHANICAL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502D479-6DA8-0D9F-0D43-1038ECF6C3E7}"/>
                  </a:ext>
                </a:extLst>
              </p:cNvPr>
              <p:cNvSpPr/>
              <p:nvPr/>
            </p:nvSpPr>
            <p:spPr>
              <a:xfrm>
                <a:off x="193431" y="1700996"/>
                <a:ext cx="99462" cy="9849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261712-67AB-7A4C-BDF2-47CDC21183B1}"/>
                </a:ext>
              </a:extLst>
            </p:cNvPr>
            <p:cNvGrpSpPr/>
            <p:nvPr/>
          </p:nvGrpSpPr>
          <p:grpSpPr>
            <a:xfrm>
              <a:off x="174380" y="2362655"/>
              <a:ext cx="380696" cy="174662"/>
              <a:chOff x="193430" y="1659792"/>
              <a:chExt cx="380696" cy="174662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6645AF-2AD6-A76E-7238-CA313F21BFD5}"/>
                  </a:ext>
                </a:extLst>
              </p:cNvPr>
              <p:cNvSpPr txBox="1"/>
              <p:nvPr/>
            </p:nvSpPr>
            <p:spPr>
              <a:xfrm>
                <a:off x="278227" y="1659792"/>
                <a:ext cx="295899" cy="174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CAE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C6B5CE8-9DAE-6FA8-3551-93620ED40ADF}"/>
                  </a:ext>
                </a:extLst>
              </p:cNvPr>
              <p:cNvSpPr/>
              <p:nvPr/>
            </p:nvSpPr>
            <p:spPr>
              <a:xfrm>
                <a:off x="193430" y="1700996"/>
                <a:ext cx="99461" cy="984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A20B935-5E04-7455-E970-45EBFABD2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47" y="-1253490"/>
            <a:ext cx="8767933" cy="493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8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C4834-22DF-C170-C86E-73626D7E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963D76-A342-BD3D-F02B-56BED6796F23}"/>
              </a:ext>
            </a:extLst>
          </p:cNvPr>
          <p:cNvSpPr txBox="1"/>
          <p:nvPr/>
        </p:nvSpPr>
        <p:spPr>
          <a:xfrm>
            <a:off x="52757" y="5963"/>
            <a:ext cx="3264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WALL-E JR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19D6FE-34AD-F32F-AB3C-B3EA59150891}"/>
              </a:ext>
            </a:extLst>
          </p:cNvPr>
          <p:cNvSpPr txBox="1"/>
          <p:nvPr/>
        </p:nvSpPr>
        <p:spPr>
          <a:xfrm>
            <a:off x="73533" y="457291"/>
            <a:ext cx="23953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Lato" panose="020F0502020204030203" pitchFamily="34" charset="0"/>
                <a:cs typeface="Lato" panose="020F0502020204030203" pitchFamily="34" charset="0"/>
              </a:rPr>
              <a:t>A design for a sustainable automated streetsweeper robot for a 36-hour design competition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AA175D-EAAF-AB61-13D1-F42D0D9FCDD8}"/>
              </a:ext>
            </a:extLst>
          </p:cNvPr>
          <p:cNvSpPr/>
          <p:nvPr/>
        </p:nvSpPr>
        <p:spPr>
          <a:xfrm>
            <a:off x="-5861" y="140495"/>
            <a:ext cx="58616" cy="12525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9352AD-0EDB-0E1C-502F-2E67667EBCE0}"/>
              </a:ext>
            </a:extLst>
          </p:cNvPr>
          <p:cNvGrpSpPr/>
          <p:nvPr/>
        </p:nvGrpSpPr>
        <p:grpSpPr>
          <a:xfrm>
            <a:off x="244724" y="2390148"/>
            <a:ext cx="1120594" cy="246221"/>
            <a:chOff x="193430" y="1659792"/>
            <a:chExt cx="771256" cy="17466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DB598C-FD5F-CBFB-D9CA-00A3B1FA7E95}"/>
                </a:ext>
              </a:extLst>
            </p:cNvPr>
            <p:cNvSpPr txBox="1"/>
            <p:nvPr/>
          </p:nvSpPr>
          <p:spPr>
            <a:xfrm>
              <a:off x="278227" y="1659792"/>
              <a:ext cx="686459" cy="174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MECHANICAL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8177BF0-5033-CB08-EA73-9F9D63047E36}"/>
                </a:ext>
              </a:extLst>
            </p:cNvPr>
            <p:cNvSpPr/>
            <p:nvPr/>
          </p:nvSpPr>
          <p:spPr>
            <a:xfrm>
              <a:off x="193430" y="1700996"/>
              <a:ext cx="99461" cy="9849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509B57F-9F34-6F37-B831-AD5D6F6CD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05"/>
          <a:stretch>
            <a:fillRect/>
          </a:stretch>
        </p:blipFill>
        <p:spPr>
          <a:xfrm>
            <a:off x="5826368" y="-106831"/>
            <a:ext cx="4259580" cy="3082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45DACA-1730-A637-185A-5A34F762A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78"/>
          <a:stretch>
            <a:fillRect/>
          </a:stretch>
        </p:blipFill>
        <p:spPr>
          <a:xfrm>
            <a:off x="1621593" y="-95979"/>
            <a:ext cx="4116139" cy="306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37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ABD45D-F63F-D52E-1E7F-B181C3450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r="2879" b="40555"/>
          <a:stretch>
            <a:fillRect/>
          </a:stretch>
        </p:blipFill>
        <p:spPr>
          <a:xfrm>
            <a:off x="2061046" y="0"/>
            <a:ext cx="7082954" cy="27410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125226-E787-5558-3C7C-336BD2CF7C45}"/>
              </a:ext>
            </a:extLst>
          </p:cNvPr>
          <p:cNvSpPr/>
          <p:nvPr/>
        </p:nvSpPr>
        <p:spPr>
          <a:xfrm>
            <a:off x="-5861" y="140495"/>
            <a:ext cx="58616" cy="276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7D7D7F-9816-4104-B903-9623C1D88068}"/>
              </a:ext>
            </a:extLst>
          </p:cNvPr>
          <p:cNvSpPr txBox="1"/>
          <p:nvPr/>
        </p:nvSpPr>
        <p:spPr>
          <a:xfrm>
            <a:off x="52757" y="5963"/>
            <a:ext cx="3264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A75930-F9E3-6EC7-A03E-F5E683BFB2A7}"/>
              </a:ext>
            </a:extLst>
          </p:cNvPr>
          <p:cNvGrpSpPr/>
          <p:nvPr/>
        </p:nvGrpSpPr>
        <p:grpSpPr>
          <a:xfrm>
            <a:off x="358990" y="984855"/>
            <a:ext cx="1175626" cy="1331272"/>
            <a:chOff x="-43635" y="1299500"/>
            <a:chExt cx="1175626" cy="1331272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C1DF1CDE-F2D9-1748-6317-4499839F76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399" y="2374500"/>
              <a:ext cx="723971" cy="256272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BBFA470-B377-F67F-C99B-7B16691D4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393" b="37607"/>
            <a:stretch>
              <a:fillRect/>
            </a:stretch>
          </p:blipFill>
          <p:spPr>
            <a:xfrm>
              <a:off x="-43635" y="1299500"/>
              <a:ext cx="1175626" cy="19593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1556B0C-9154-86FE-FF29-E45B0207A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093" y="1522983"/>
              <a:ext cx="752170" cy="45473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EC1B4C1-F7E5-D5D2-AFA8-E343F828F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17" r="30423" b="12487"/>
            <a:stretch>
              <a:fillRect/>
            </a:stretch>
          </p:blipFill>
          <p:spPr>
            <a:xfrm>
              <a:off x="-22016" y="1977721"/>
              <a:ext cx="1066799" cy="341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279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392</TotalTime>
  <Words>150</Words>
  <Application>Microsoft Office PowerPoint</Application>
  <PresentationFormat>Custom</PresentationFormat>
  <Paragraphs>49</Paragraphs>
  <Slides>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Lato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Chase Sun</dc:creator>
  <cp:lastModifiedBy>Chase Sun</cp:lastModifiedBy>
  <cp:revision>1</cp:revision>
  <cp:lastPrinted>2026-05-17T19:10:17Z</cp:lastPrinted>
  <dcterms:created xsi:type="dcterms:W3CDTF">2026-05-17T17:14:37Z</dcterms:created>
  <dcterms:modified xsi:type="dcterms:W3CDTF">2026-08-18T03:27:29Z</dcterms:modified>
</cp:coreProperties>
</file>